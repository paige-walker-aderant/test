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Updated Investment Tracking Tags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deck exported to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Dev (Non-AI)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Definition: Work that directly develops or enhances product functionality not driven by AI/ML technology. Expands value proposition, improves SAM/SOM, or supports existing GTM motion.</a:t>
            </a:r>
          </a:p>
          <a:p>
            <a:pPr>
              <a:defRPr b="1" sz="1800"/>
            </a:pPr>
            <a:r>
              <a:t>Examples:</a:t>
            </a:r>
          </a:p>
          <a:p>
            <a:pPr lvl="1">
              <a:defRPr sz="1600"/>
            </a:pPr>
            <a:r>
              <a:t>New non-AI product features</a:t>
            </a:r>
          </a:p>
          <a:p>
            <a:pPr lvl="1">
              <a:defRPr sz="1600"/>
            </a:pPr>
            <a:r>
              <a:t>Enhancements to UI/UX</a:t>
            </a:r>
          </a:p>
          <a:p>
            <a:pPr lvl="1">
              <a:defRPr sz="1600"/>
            </a:pPr>
            <a:r>
              <a:t>Performance improvements</a:t>
            </a:r>
          </a:p>
          <a:p>
            <a:pPr lvl="1">
              <a:defRPr sz="1600"/>
            </a:pPr>
            <a:r>
              <a:t>Milana base product changes</a:t>
            </a:r>
          </a:p>
          <a:p>
            <a:pPr lvl="1">
              <a:defRPr sz="1600"/>
            </a:pPr>
            <a:r>
              <a:t>Non-AI automation improvements (e.g., AR base work, non-AI ITK enhancements)</a:t>
            </a:r>
          </a:p>
          <a:p>
            <a:pPr>
              <a:defRPr sz="1600" i="1"/>
            </a:pPr>
            <a:r>
              <a:t>Does the AI capability deliver user-facing product value? If yes → Product Dev (AI)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Dev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Definition: Work that creates new or enhanced capabilities powered by Artificial Intelligence or Machine Learning. Drives differentiation and higher-margin value through AI-first experiences.</a:t>
            </a:r>
          </a:p>
          <a:p>
            <a:pPr>
              <a:defRPr b="1" sz="1800"/>
            </a:pPr>
            <a:r>
              <a:t>Examples:</a:t>
            </a:r>
          </a:p>
          <a:p>
            <a:pPr lvl="1">
              <a:defRPr sz="1600"/>
            </a:pPr>
            <a:r>
              <a:t>AI-powered automation (e.g., AR automation, Passive Time automation)</a:t>
            </a:r>
          </a:p>
          <a:p>
            <a:pPr lvl="1">
              <a:defRPr sz="1600"/>
            </a:pPr>
            <a:r>
              <a:t>ML-driven recommendations or insights</a:t>
            </a:r>
          </a:p>
          <a:p>
            <a:pPr lvl="1">
              <a:defRPr sz="1600"/>
            </a:pPr>
            <a:r>
              <a:t>Copilot-style assistance</a:t>
            </a:r>
          </a:p>
          <a:p>
            <a:pPr lvl="1">
              <a:defRPr sz="1600"/>
            </a:pPr>
            <a:r>
              <a:t>Generative content features</a:t>
            </a:r>
          </a:p>
          <a:p>
            <a:pPr>
              <a:defRPr sz="1600" i="1"/>
            </a:pPr>
            <a:r>
              <a:t>Is the customer-facing experience differentiated because of AI/ML? If yes → stay tagged as Product Dev (AI)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Definition: AI used for code generation or engineering workflows, helping development teams build faster — but not visible to customers as a product capability.</a:t>
            </a:r>
          </a:p>
          <a:p>
            <a:pPr>
              <a:defRPr b="1" sz="1800"/>
            </a:pPr>
            <a:r>
              <a:t>Examples:</a:t>
            </a:r>
          </a:p>
          <a:p>
            <a:pPr lvl="1">
              <a:defRPr sz="1600"/>
            </a:pPr>
            <a:r>
              <a:t>AI-generated code via Cursor / GitHub Copilot</a:t>
            </a:r>
          </a:p>
          <a:p>
            <a:pPr lvl="1">
              <a:defRPr sz="1600"/>
            </a:pPr>
            <a:r>
              <a:t>AI-generated automated test creation</a:t>
            </a:r>
          </a:p>
          <a:p>
            <a:pPr lvl="1">
              <a:defRPr sz="1600"/>
            </a:pPr>
            <a:r>
              <a:t>AI-driven static analysis or code translation</a:t>
            </a:r>
          </a:p>
          <a:p>
            <a:pPr lvl="1">
              <a:defRPr sz="1600"/>
            </a:pPr>
            <a:r>
              <a:t>AI-assisted refactors</a:t>
            </a:r>
          </a:p>
          <a:p>
            <a:pPr lvl="1">
              <a:defRPr sz="1600"/>
            </a:pPr>
            <a:r>
              <a:t>AI-based code documentation</a:t>
            </a:r>
          </a:p>
          <a:p>
            <a:pPr>
              <a:defRPr sz="1600" i="1"/>
            </a:pPr>
            <a:r>
              <a:t>Is AI being used behind the scenes to build code faster or improve engineering processes? If yes → Code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Debt (Non-AI)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Definition: Work that modernizes, stabilizes, or corrects prior architectural decisions. Improves reliability, maintainability, velocity — regardless of AI relevance.</a:t>
            </a:r>
          </a:p>
          <a:p>
            <a:pPr>
              <a:defRPr b="1" sz="1800"/>
            </a:pPr>
            <a:r>
              <a:t>Examples:</a:t>
            </a:r>
          </a:p>
          <a:p>
            <a:pPr lvl="1">
              <a:defRPr sz="1600"/>
            </a:pPr>
            <a:r>
              <a:t>API modernization</a:t>
            </a:r>
          </a:p>
          <a:p>
            <a:pPr lvl="1">
              <a:defRPr sz="1600"/>
            </a:pPr>
            <a:r>
              <a:t>Infrastructure automation gaps (CI/CD)</a:t>
            </a:r>
          </a:p>
          <a:p>
            <a:pPr lvl="1">
              <a:defRPr sz="1600"/>
            </a:pPr>
            <a:r>
              <a:t>Removing deprecated dependencies</a:t>
            </a:r>
          </a:p>
          <a:p>
            <a:pPr lvl="1">
              <a:defRPr sz="1600"/>
            </a:pPr>
            <a:r>
              <a:t>Removing content not tied to new features</a:t>
            </a:r>
          </a:p>
          <a:p>
            <a:pPr lvl="1">
              <a:defRPr sz="1600"/>
            </a:pPr>
            <a:r>
              <a:t>Production bug fixes</a:t>
            </a:r>
          </a:p>
          <a:p>
            <a:pPr lvl="1">
              <a:defRPr sz="1600"/>
            </a:pPr>
            <a:r>
              <a:t>Vulnerability remediation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Definition: Sustaining work that ensures product availability, customer satisfaction, and SLA compliance. Includes customer-reported issues and required regulatory/scaling fixes.</a:t>
            </a:r>
          </a:p>
          <a:p>
            <a:pPr>
              <a:defRPr b="1" sz="1800"/>
            </a:pPr>
            <a:r>
              <a:t>Examples:</a:t>
            </a:r>
          </a:p>
          <a:p>
            <a:pPr lvl="1">
              <a:defRPr sz="1600"/>
            </a:pPr>
            <a:r>
              <a:t>Outage / incident response</a:t>
            </a:r>
          </a:p>
          <a:p>
            <a:pPr lvl="1">
              <a:defRPr sz="1600"/>
            </a:pPr>
            <a:r>
              <a:t>3rd-party tech replacement (e.g., EWS replacements)</a:t>
            </a:r>
          </a:p>
          <a:p>
            <a:pPr lvl="1">
              <a:defRPr sz="1600"/>
            </a:pPr>
            <a:r>
              <a:t>Support escalations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